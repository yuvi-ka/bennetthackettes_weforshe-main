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3" r:id="rId1"/>
  </p:sldMasterIdLst>
  <p:notesMasterIdLst>
    <p:notesMasterId r:id="rId12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1" r:id="rId10"/>
    <p:sldId id="272" r:id="rId11"/>
  </p:sldIdLst>
  <p:sldSz cx="12192000" cy="6858000"/>
  <p:notesSz cx="6858000" cy="9144000"/>
  <p:embeddedFontLst>
    <p:embeddedFont>
      <p:font typeface="Bodoni" panose="020B0604020202020204" charset="0"/>
      <p:regular r:id="rId13"/>
      <p:bold r:id="rId14"/>
      <p:italic r:id="rId15"/>
      <p:boldItalic r:id="rId16"/>
    </p:embeddedFont>
    <p:embeddedFont>
      <p:font typeface="Candara" panose="020E0502030303020204" pitchFamily="34" charset="0"/>
      <p:regular r:id="rId17"/>
      <p:bold r:id="rId18"/>
      <p:italic r:id="rId19"/>
      <p:boldItalic r:id="rId20"/>
    </p:embeddedFont>
    <p:embeddedFont>
      <p:font typeface="Century Gothic" panose="020B0502020202020204" pitchFamily="34" charset="0"/>
      <p:regular r:id="rId21"/>
      <p:bold r:id="rId22"/>
      <p:italic r:id="rId23"/>
      <p:boldItalic r:id="rId24"/>
    </p:embeddedFont>
    <p:embeddedFont>
      <p:font typeface="Century Schoolbook" panose="02040604050505020304" pitchFamily="18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AQO9UmKYhwGdNuxAKgOxc4CZh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49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47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8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8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0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19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0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798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889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610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474096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571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00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922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78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53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930797" y="3777143"/>
            <a:ext cx="10515600" cy="77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84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62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/>
          <p:cNvSpPr txBox="1">
            <a:spLocks noGrp="1"/>
          </p:cNvSpPr>
          <p:nvPr>
            <p:ph type="title"/>
          </p:nvPr>
        </p:nvSpPr>
        <p:spPr>
          <a:xfrm>
            <a:off x="6994129" y="5456003"/>
            <a:ext cx="50670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9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TEAM NAME :  HACKETTES</a:t>
            </a:r>
            <a:endParaRPr sz="19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19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9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TEAM DETAILS: YUVIKA MISHRA</a:t>
            </a:r>
            <a:br>
              <a:rPr lang="en-US" sz="19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lang="en-US" sz="19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           SADIYA FAIZAN</a:t>
            </a:r>
            <a:endParaRPr sz="19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59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lang="en-US" dirty="0">
                <a:latin typeface="Century Schoolbook"/>
                <a:ea typeface="Century Schoolbook"/>
                <a:cs typeface="Century Schoolbook"/>
                <a:sym typeface="Century Schoolbook"/>
              </a:rPr>
              <a:t>PROBLEM STATEMENT</a:t>
            </a:r>
            <a:endParaRPr dirty="0"/>
          </a:p>
        </p:txBody>
      </p:sp>
      <p:sp>
        <p:nvSpPr>
          <p:cNvPr id="172" name="Google Shape;172;p5"/>
          <p:cNvSpPr txBox="1">
            <a:spLocks noGrp="1"/>
          </p:cNvSpPr>
          <p:nvPr>
            <p:ph sz="half" idx="1"/>
          </p:nvPr>
        </p:nvSpPr>
        <p:spPr>
          <a:xfrm>
            <a:off x="3265713" y="1205199"/>
            <a:ext cx="5660573" cy="548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Gen Z Craves 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unique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, 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sustainable 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fashion experiences, requiring a revolutionary platform with cutting-edge tech and innovative engagement for 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social connectivity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.</a:t>
            </a:r>
            <a:endParaRPr dirty="0"/>
          </a:p>
          <a:p>
            <a:pPr lvl="0" algn="just">
              <a:lnSpc>
                <a:spcPct val="100000"/>
              </a:lnSpc>
              <a:buSzPts val="1600"/>
            </a:pPr>
            <a:r>
              <a:rPr lang="en-US" sz="1600" b="1" dirty="0"/>
              <a:t>Interactive Platform</a:t>
            </a:r>
            <a:r>
              <a:rPr lang="en-US" sz="1600" dirty="0"/>
              <a:t>: </a:t>
            </a:r>
            <a:r>
              <a:rPr lang="en-US" sz="1600" dirty="0">
                <a:latin typeface="Candara" panose="020E0502030303020204" pitchFamily="34" charset="0"/>
              </a:rPr>
              <a:t>Position Myntra as the top destination for trend-savvy shoppers.</a:t>
            </a:r>
            <a:r>
              <a:rPr lang="en-US" sz="1600" cap="none" dirty="0">
                <a:latin typeface="Candara" panose="020E0502030303020204" pitchFamily="34" charset="0"/>
                <a:ea typeface="Candara"/>
                <a:cs typeface="Candara"/>
                <a:sym typeface="Candara"/>
              </a:rPr>
              <a:t>.</a:t>
            </a:r>
            <a:endParaRPr lang="en-US" sz="1600" dirty="0">
              <a:latin typeface="Candara" panose="020E0502030303020204" pitchFamily="34" charset="0"/>
              <a:ea typeface="Candara"/>
              <a:cs typeface="Candara"/>
              <a:sym typeface="Candara"/>
            </a:endParaRPr>
          </a:p>
          <a:p>
            <a:pPr marL="0" lvl="0" indent="0" algn="just">
              <a:lnSpc>
                <a:spcPct val="100000"/>
              </a:lnSpc>
              <a:buSzPts val="1600"/>
              <a:buNone/>
            </a:pPr>
            <a:endParaRPr sz="1600" dirty="0">
              <a:latin typeface="Candara" panose="020E0502030303020204" pitchFamily="34" charset="0"/>
            </a:endParaRPr>
          </a:p>
          <a:p>
            <a:pPr lvl="0" algn="just">
              <a:lnSpc>
                <a:spcPct val="120000"/>
              </a:lnSpc>
              <a:buSzPts val="1600"/>
            </a:pPr>
            <a:r>
              <a:rPr lang="en-US" sz="1600" b="1" dirty="0"/>
              <a:t>Engagement</a:t>
            </a:r>
            <a:r>
              <a:rPr lang="en-US" sz="1600" dirty="0"/>
              <a:t>: </a:t>
            </a:r>
            <a:r>
              <a:rPr lang="en-US" sz="1600" dirty="0">
                <a:latin typeface="Candara" panose="020E0502030303020204" pitchFamily="34" charset="0"/>
              </a:rPr>
              <a:t>Connect with younger audiences through fashion-focused content.</a:t>
            </a:r>
            <a:r>
              <a:rPr lang="en-US" sz="1600" cap="none" dirty="0">
                <a:latin typeface="Candara" panose="020E0502030303020204" pitchFamily="34" charset="0"/>
                <a:ea typeface="Candara"/>
                <a:cs typeface="Candara"/>
                <a:sym typeface="Candara"/>
              </a:rPr>
              <a:t>.</a:t>
            </a:r>
            <a:endParaRPr lang="en-US" sz="1600" dirty="0">
              <a:latin typeface="Candara" panose="020E0502030303020204" pitchFamily="34" charset="0"/>
              <a:ea typeface="Candara"/>
              <a:cs typeface="Candara"/>
              <a:sym typeface="Candara"/>
            </a:endParaRPr>
          </a:p>
          <a:p>
            <a:pPr marL="0" lvl="0" indent="0" algn="just">
              <a:lnSpc>
                <a:spcPct val="120000"/>
              </a:lnSpc>
              <a:buSzPts val="1600"/>
              <a:buNone/>
            </a:pPr>
            <a:endParaRPr dirty="0">
              <a:latin typeface="Candara" panose="020E0502030303020204" pitchFamily="34" charset="0"/>
            </a:endParaRPr>
          </a:p>
          <a:p>
            <a:pPr lvl="0" algn="just">
              <a:lnSpc>
                <a:spcPct val="120000"/>
              </a:lnSpc>
              <a:buSzPts val="1600"/>
            </a:pPr>
            <a:r>
              <a:rPr lang="en-US" sz="1600" b="1" dirty="0"/>
              <a:t>Features</a:t>
            </a:r>
            <a:r>
              <a:rPr lang="en-US" sz="1600" dirty="0"/>
              <a:t>: </a:t>
            </a:r>
            <a:r>
              <a:rPr lang="en-US" sz="1600" dirty="0">
                <a:latin typeface="Candara" panose="020E0502030303020204" pitchFamily="34" charset="0"/>
              </a:rPr>
              <a:t>Build a fashion ecosystem combining shopping with lifestyle and trend content</a:t>
            </a:r>
            <a:r>
              <a:rPr lang="en-US" sz="1600" dirty="0"/>
              <a:t>.</a:t>
            </a:r>
          </a:p>
          <a:p>
            <a:pPr marL="0" lvl="0" indent="0" algn="just">
              <a:lnSpc>
                <a:spcPct val="120000"/>
              </a:lnSpc>
              <a:buSzPts val="1600"/>
              <a:buNone/>
            </a:pPr>
            <a:endParaRPr lang="en-US" sz="1600" dirty="0"/>
          </a:p>
          <a:p>
            <a:r>
              <a:rPr lang="en-US" sz="1600" b="1" dirty="0"/>
              <a:t>Sustainability</a:t>
            </a:r>
            <a:r>
              <a:rPr lang="en-US" sz="1600" dirty="0"/>
              <a:t>: </a:t>
            </a:r>
            <a:r>
              <a:rPr lang="en-US" sz="1600" dirty="0">
                <a:latin typeface="Candara" panose="020E0502030303020204" pitchFamily="34" charset="0"/>
              </a:rPr>
              <a:t>Promote eco-friendly practices and community support</a:t>
            </a:r>
            <a:r>
              <a:rPr lang="en-US" sz="1600" dirty="0"/>
              <a:t>.</a:t>
            </a:r>
          </a:p>
          <a:p>
            <a:pPr marL="228600" lvl="0" indent="-1270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 cap="none" dirty="0"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5999C-1A07-C7EE-6F1B-5806F9ED7017}"/>
              </a:ext>
            </a:extLst>
          </p:cNvPr>
          <p:cNvSpPr/>
          <p:nvPr/>
        </p:nvSpPr>
        <p:spPr>
          <a:xfrm>
            <a:off x="582384" y="6492874"/>
            <a:ext cx="112014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i="0" u="none" strike="noStrike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wentieth Century"/>
                <a:ea typeface="Twentieth Century"/>
                <a:cs typeface="Twentieth Century"/>
                <a:sym typeface="Twentieth Century"/>
              </a:rPr>
              <a:t>Where Fashion Meets Social: The Future of Online Shopping</a:t>
            </a:r>
            <a:endParaRPr lang="en-IN" sz="2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29D905B0-ED55-6A2A-78E6-D3A92B8D9450}"/>
              </a:ext>
            </a:extLst>
          </p:cNvPr>
          <p:cNvSpPr/>
          <p:nvPr/>
        </p:nvSpPr>
        <p:spPr>
          <a:xfrm>
            <a:off x="10875523" y="2079129"/>
            <a:ext cx="1948835" cy="1955521"/>
          </a:xfrm>
          <a:prstGeom prst="flowChartConnector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E778F9E1-EBE4-CF9F-E8EE-B0A0397006C2}"/>
              </a:ext>
            </a:extLst>
          </p:cNvPr>
          <p:cNvSpPr/>
          <p:nvPr/>
        </p:nvSpPr>
        <p:spPr>
          <a:xfrm rot="7185894">
            <a:off x="11342569" y="2850165"/>
            <a:ext cx="1790701" cy="1750486"/>
          </a:xfrm>
          <a:prstGeom prst="flowChartConnector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9BAF83E-F620-13C6-4408-47D7D9B223DC}"/>
              </a:ext>
            </a:extLst>
          </p:cNvPr>
          <p:cNvSpPr/>
          <p:nvPr/>
        </p:nvSpPr>
        <p:spPr>
          <a:xfrm>
            <a:off x="17707867" y="1378041"/>
            <a:ext cx="1790701" cy="1828800"/>
          </a:xfrm>
          <a:prstGeom prst="flowChartConnector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F17DEEB-40DD-D2BA-4C1F-8FA46AA8DC8E}"/>
              </a:ext>
            </a:extLst>
          </p:cNvPr>
          <p:cNvSpPr/>
          <p:nvPr/>
        </p:nvSpPr>
        <p:spPr>
          <a:xfrm>
            <a:off x="-632359" y="-46723"/>
            <a:ext cx="1790701" cy="1828800"/>
          </a:xfrm>
          <a:prstGeom prst="flowChartConnector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4421D48-3275-BA73-F36E-2D7A5118D4B0}"/>
              </a:ext>
            </a:extLst>
          </p:cNvPr>
          <p:cNvSpPr/>
          <p:nvPr/>
        </p:nvSpPr>
        <p:spPr>
          <a:xfrm rot="7185894">
            <a:off x="-546097" y="875190"/>
            <a:ext cx="2271549" cy="2228174"/>
          </a:xfrm>
          <a:prstGeom prst="flowChartConnector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5320D2E-EFE1-8D3B-8088-2ACA7CAF05CB}"/>
              </a:ext>
            </a:extLst>
          </p:cNvPr>
          <p:cNvSpPr/>
          <p:nvPr/>
        </p:nvSpPr>
        <p:spPr>
          <a:xfrm>
            <a:off x="-695935" y="2020237"/>
            <a:ext cx="1790701" cy="1828800"/>
          </a:xfrm>
          <a:prstGeom prst="flowChartConnector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33AA33F0-A9CF-1775-3928-19536129F3A8}"/>
              </a:ext>
            </a:extLst>
          </p:cNvPr>
          <p:cNvSpPr/>
          <p:nvPr/>
        </p:nvSpPr>
        <p:spPr>
          <a:xfrm rot="7185894">
            <a:off x="11324148" y="2850164"/>
            <a:ext cx="1790701" cy="1750486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B731E1F5-0ED1-30FC-A6D9-DAA41E418D53}"/>
              </a:ext>
            </a:extLst>
          </p:cNvPr>
          <p:cNvSpPr/>
          <p:nvPr/>
        </p:nvSpPr>
        <p:spPr>
          <a:xfrm>
            <a:off x="-695936" y="2020237"/>
            <a:ext cx="1790701" cy="1828800"/>
          </a:xfrm>
          <a:prstGeom prst="flowChartConnector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3.7037E-7 L 3.54167E-6 0.00023 C -0.00625 -0.00278 -0.04623 -0.02268 -0.05925 -0.02268 C -0.09597 -0.02268 -0.13269 -0.01898 -0.1694 -0.01713 C -0.21511 0.00671 -0.17839 -0.01551 -0.22201 0.01968 C -0.2642 0.05394 -0.23594 0.025 -0.28425 0.06806 C -0.28855 0.07176 -0.29271 0.07593 -0.29701 0.0794 C -0.29857 0.08056 -0.30026 0.08056 -0.30183 0.08218 C -0.31146 0.09213 -0.32084 0.10324 -0.33047 0.11343 C -0.33516 0.11829 -0.34011 0.12269 -0.34493 0.12755 C -0.34857 0.13125 -0.35222 0.13542 -0.35599 0.13889 C -0.36563 0.14745 -0.37552 0.15486 -0.38477 0.16435 C -0.39115 0.17107 -0.39727 0.17847 -0.40391 0.18426 C -0.40899 0.18889 -0.41459 0.19167 -0.41993 0.1956 C -0.42474 0.19931 -0.42943 0.20301 -0.43425 0.20694 C -0.44714 0.21782 -0.45248 0.22477 -0.46615 0.23241 C -0.4724 0.23611 -0.47904 0.23727 -0.48529 0.24097 C -0.49024 0.24398 -0.49466 0.24907 -0.49961 0.25232 C -0.52279 0.26736 -0.51628 0.25995 -0.53789 0.27222 C -0.54388 0.27546 -0.54948 0.28056 -0.55547 0.28357 C -0.56341 0.28727 -0.57162 0.28819 -0.57943 0.29213 C -0.63295 0.31759 -0.56394 0.29167 -0.61289 0.30903 C -0.63685 0.33032 -0.6142 0.3125 -0.64011 0.32616 C -0.68099 0.34769 -0.65586 0.33935 -0.67839 0.34583 C -0.68099 0.34884 -0.68347 0.35232 -0.68633 0.3544 C -0.68828 0.35602 -0.69063 0.35625 -0.69271 0.35718 C -0.70052 0.36111 -0.7043 0.36389 -0.71185 0.36574 C -0.71667 0.3669 -0.72149 0.36759 -0.72618 0.36875 C -0.73425 0.36759 -0.74219 0.36736 -0.75013 0.36574 C -0.75183 0.36551 -0.75326 0.36366 -0.75495 0.36296 C -0.75808 0.36181 -0.76133 0.36065 -0.76459 0.36019 C -0.78881 0.35648 -0.82904 0.35532 -0.84909 0.3544 C -0.85443 0.35255 -0.8599 0.35162 -0.86511 0.34884 C -0.86693 0.34769 -0.8681 0.34468 -0.8698 0.34306 C -0.87136 0.34167 -0.87305 0.34144 -0.87461 0.34028 C -0.87683 0.33866 -0.87878 0.33634 -0.88099 0.33449 C -0.8836 0.33264 -0.88633 0.33056 -0.88894 0.32894 C -0.89102 0.32778 -0.89323 0.32708 -0.89532 0.32616 C -0.89701 0.32523 -0.89857 0.32431 -0.90013 0.32315 C -0.90625 0.3162 -0.90365 0.31991 -0.90808 0.31181 L -0.90808 0.31204 L -0.90808 0.31181 " pathEditMode="relative" rAng="0" ptsTypes="AAAAAAAAAAAAAAAAAAAAAAAAAAAAAAAAAAAAAAAAAA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404" y="1729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83 0.07407 L 0.04583 0.07407 C 0.07213 0.0787 0.09062 0.075 0.11276 0.09676 C 0.11823 0.10185 0.13099 0.12662 0.13515 0.13356 C 0.13867 0.13935 0.14283 0.14444 0.14635 0.15046 C 0.14974 0.15671 0.15208 0.16505 0.15586 0.17037 C 0.16862 0.18866 0.18151 0.20694 0.1957 0.22153 C 0.2069 0.23287 0.21953 0.24051 0.22929 0.25555 C 0.23346 0.26204 0.23789 0.26852 0.24205 0.27546 C 0.25312 0.29352 0.24948 0.29282 0.26601 0.30949 C 0.27265 0.31597 0.27994 0.32037 0.28672 0.32639 C 0.28945 0.32893 0.29218 0.33171 0.29466 0.33495 C 0.29752 0.33843 0.29961 0.34352 0.3026 0.3463 C 0.30872 0.35208 0.31523 0.35671 0.32187 0.36042 C 0.32851 0.36435 0.33554 0.36643 0.34257 0.36898 C 0.35104 0.37199 0.3595 0.37523 0.3681 0.37755 C 0.37448 0.37917 0.38086 0.3794 0.38724 0.38032 C 0.41679 0.38426 0.41145 0.38333 0.44791 0.38611 C 0.45846 0.38403 0.46927 0.3831 0.47981 0.38032 C 0.48685 0.37847 0.49362 0.37454 0.50052 0.37176 C 0.50586 0.36968 0.51119 0.36852 0.51653 0.3662 C 0.52135 0.36389 0.52591 0.35949 0.53086 0.35764 C 0.53919 0.35463 0.54791 0.35393 0.55638 0.35185 L 0.57708 0.33773 C 0.59218 0.32708 0.58815 0.32755 0.60742 0.31782 C 0.61054 0.31643 0.6138 0.31551 0.61705 0.31505 C 0.63138 0.31343 0.6457 0.31319 0.66015 0.31227 C 0.67343 0.31412 0.68672 0.31551 0.7 0.31782 C 0.70742 0.31921 0.71484 0.32153 0.72226 0.32361 C 0.72929 0.32546 0.73606 0.32824 0.7431 0.32917 C 0.78984 0.33542 0.77187 0.33125 0.79726 0.33773 C 0.81966 0.33472 0.84388 0.3338 0.86588 0.32361 C 0.8694 0.32199 0.87226 0.31759 0.87552 0.31505 C 0.88007 0.31134 0.88164 0.3125 0.88672 0.30949 C 0.88945 0.30787 0.89192 0.30555 0.89466 0.3037 C 0.89778 0.30162 0.90104 0.3 0.90416 0.29815 C 0.90586 0.29722 0.90755 0.29699 0.90898 0.29514 C 0.91471 0.28843 0.91185 0.28958 0.91705 0.28958 L 0.91705 0.28958 " pathEditMode="relative" ptsTypes="AAAAAAAAAAAAAAAAAAAAAAAAAAAAAAAAAAAAAAA"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  <p:bldP spid="3" grpId="0" animBg="1"/>
      <p:bldP spid="7" grpId="0" animBg="1"/>
      <p:bldP spid="10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9353D1-16E6-8A7E-48C3-ED2EBE483581}"/>
              </a:ext>
            </a:extLst>
          </p:cNvPr>
          <p:cNvSpPr txBox="1"/>
          <p:nvPr/>
        </p:nvSpPr>
        <p:spPr>
          <a:xfrm>
            <a:off x="814118" y="190963"/>
            <a:ext cx="99611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"/>
                <a:ea typeface="Bodoni"/>
                <a:cs typeface="Bodoni"/>
                <a:sym typeface="Bodoni"/>
              </a:rPr>
              <a:t>TREND-MOSAIC</a:t>
            </a:r>
            <a:endParaRPr lang="en-IN" sz="6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CB700-A914-AA39-70E0-D3A9AD0A8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216" y="500717"/>
            <a:ext cx="5344887" cy="6357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C4B493-255B-A1FB-CEB4-B49D1ADDC54C}"/>
              </a:ext>
            </a:extLst>
          </p:cNvPr>
          <p:cNvSpPr txBox="1"/>
          <p:nvPr/>
        </p:nvSpPr>
        <p:spPr>
          <a:xfrm>
            <a:off x="1354386" y="1387283"/>
            <a:ext cx="527239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Bodoni"/>
                <a:ea typeface="Bodoni"/>
                <a:cs typeface="Bodoni"/>
                <a:sym typeface="Bodoni"/>
              </a:rPr>
              <a:t>1. Collaborative 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latin typeface="Candara" panose="020E0502030303020204" pitchFamily="34" charset="0"/>
              </a:rPr>
              <a:t>          1.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Group Boards: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Multiple users can contribute.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    2. Comment and Chat: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Comment and chat on       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         3. Interactive Polls: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Create polls for opinions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endParaRPr lang="en-IN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596B4EF-35F1-B19B-240B-7E07FE71DA0F}"/>
              </a:ext>
            </a:extLst>
          </p:cNvPr>
          <p:cNvSpPr/>
          <p:nvPr/>
        </p:nvSpPr>
        <p:spPr>
          <a:xfrm>
            <a:off x="-711754" y="2050890"/>
            <a:ext cx="1790701" cy="1828800"/>
          </a:xfrm>
          <a:prstGeom prst="flowChartConnector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CACD913B-46E1-2A90-7080-431BA0CC6285}"/>
              </a:ext>
            </a:extLst>
          </p:cNvPr>
          <p:cNvSpPr/>
          <p:nvPr/>
        </p:nvSpPr>
        <p:spPr>
          <a:xfrm>
            <a:off x="-697817" y="3154877"/>
            <a:ext cx="2091452" cy="2120782"/>
          </a:xfrm>
          <a:prstGeom prst="flowChartConnector">
            <a:avLst/>
          </a:prstGeom>
          <a:solidFill>
            <a:schemeClr val="accent3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Graphic 13" descr="Arrow: Slight curve with solid fill">
            <a:extLst>
              <a:ext uri="{FF2B5EF4-FFF2-40B4-BE49-F238E27FC236}">
                <a16:creationId xmlns:a16="http://schemas.microsoft.com/office/drawing/2014/main" id="{8ABF9E92-5497-32CA-EB6C-CC59BF189D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73115">
            <a:off x="5065952" y="2944688"/>
            <a:ext cx="1454426" cy="1454426"/>
          </a:xfrm>
          <a:prstGeom prst="rect">
            <a:avLst/>
          </a:prstGeom>
        </p:spPr>
      </p:pic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A4A7204-A93D-CA67-6912-BC6FAD24C4CE}"/>
              </a:ext>
            </a:extLst>
          </p:cNvPr>
          <p:cNvSpPr/>
          <p:nvPr/>
        </p:nvSpPr>
        <p:spPr>
          <a:xfrm>
            <a:off x="-662432" y="869426"/>
            <a:ext cx="1790701" cy="1828800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0BD26FE8-593A-DBBC-EF7F-EB1813BB7360}"/>
              </a:ext>
            </a:extLst>
          </p:cNvPr>
          <p:cNvSpPr/>
          <p:nvPr/>
        </p:nvSpPr>
        <p:spPr>
          <a:xfrm>
            <a:off x="5279020" y="5691546"/>
            <a:ext cx="1947349" cy="1947350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4D0252F9-B12B-230D-746F-E0E1A6FC145D}"/>
              </a:ext>
            </a:extLst>
          </p:cNvPr>
          <p:cNvSpPr/>
          <p:nvPr/>
        </p:nvSpPr>
        <p:spPr>
          <a:xfrm>
            <a:off x="-683880" y="3154877"/>
            <a:ext cx="2091452" cy="2120782"/>
          </a:xfrm>
          <a:prstGeom prst="flowChartConnector">
            <a:avLst/>
          </a:prstGeom>
          <a:solidFill>
            <a:schemeClr val="accent3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Line arrow: Counter-clockwise curve with solid fill">
            <a:extLst>
              <a:ext uri="{FF2B5EF4-FFF2-40B4-BE49-F238E27FC236}">
                <a16:creationId xmlns:a16="http://schemas.microsoft.com/office/drawing/2014/main" id="{153F00E6-4A91-013D-5644-930C00D265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4748347">
            <a:off x="7642598" y="3119271"/>
            <a:ext cx="750959" cy="638858"/>
          </a:xfrm>
          <a:prstGeom prst="rect">
            <a:avLst/>
          </a:prstGeom>
        </p:spPr>
      </p:pic>
      <p:pic>
        <p:nvPicPr>
          <p:cNvPr id="9" name="Graphic 8" descr="Line arrow: Clockwise curve with solid fill">
            <a:extLst>
              <a:ext uri="{FF2B5EF4-FFF2-40B4-BE49-F238E27FC236}">
                <a16:creationId xmlns:a16="http://schemas.microsoft.com/office/drawing/2014/main" id="{D903BFA1-FAC6-8092-8071-DB443D5C7A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9865588">
            <a:off x="11024777" y="3141008"/>
            <a:ext cx="641857" cy="64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38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2.5E-6 0.00023 C 0.00182 0.02199 0.00312 0.04491 0.00599 0.06713 C 0.00755 0.08148 0.01094 0.09375 0.01341 0.10718 C 0.01536 0.11713 0.02122 0.14769 0.02552 0.1588 C 0.02773 0.16505 0.03047 0.16968 0.03307 0.17477 C 0.03411 0.17662 0.04505 0.19699 0.04817 0.19885 C 0.05403 0.20186 0.06028 0.20139 0.0664 0.20278 C 0.07669 0.20139 0.09453 0.20371 0.10716 0.19445 C 0.11028 0.1926 0.11315 0.18936 0.11614 0.18681 C 0.12265 0.1875 0.14349 0.18611 0.1526 0.19885 C 0.16692 0.21898 0.1608 0.21598 0.16914 0.23449 C 0.17057 0.2375 0.17226 0.23936 0.17357 0.2426 C 0.17539 0.24607 0.17656 0.25116 0.17812 0.25417 C 0.18099 0.26042 0.18424 0.26505 0.18737 0.27014 C 0.19192 0.27848 0.19492 0.28473 0.20078 0.29051 C 0.20325 0.29283 0.20586 0.29306 0.20833 0.29422 C 0.22057 0.29167 0.23268 0.29051 0.24479 0.28611 C 0.24791 0.28519 0.25534 0.27408 0.25846 0.27014 C 0.26185 0.26644 0.26523 0.26111 0.26901 0.25857 C 0.27383 0.25463 0.28398 0.25047 0.28398 0.25093 C 0.28554 0.24792 0.28698 0.24468 0.28867 0.2426 C 0.29271 0.23681 0.29987 0.23588 0.30377 0.23449 C 0.32135 0.23588 0.33893 0.23496 0.35664 0.23843 C 0.35898 0.23936 0.36067 0.24329 0.36276 0.24653 C 0.36484 0.25023 0.36692 0.25371 0.36875 0.25857 C 0.37005 0.26181 0.37057 0.26644 0.37161 0.27014 C 0.3737 0.27709 0.37552 0.28426 0.37786 0.29051 C 0.37955 0.29537 0.38294 0.29931 0.38554 0.30255 L 0.38554 0.30301 L 0.38554 0.30255 " pathEditMode="relative" rAng="0" ptsTypes="AAAAAAAAAAAAAAAAAAAAAAAAAAAAA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1" y="1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C9B8D90-7011-4EAF-28DC-A752468D88D4}"/>
              </a:ext>
            </a:extLst>
          </p:cNvPr>
          <p:cNvSpPr/>
          <p:nvPr/>
        </p:nvSpPr>
        <p:spPr>
          <a:xfrm>
            <a:off x="11011918" y="924075"/>
            <a:ext cx="2091452" cy="2120782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821D8-F3C0-7D22-308D-DBCBFD789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4828" y="2393004"/>
            <a:ext cx="5875509" cy="1601281"/>
          </a:xfrm>
        </p:spPr>
        <p:txBody>
          <a:bodyPr>
            <a:normAutofit fontScale="62500" lnSpcReduction="20000"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800" dirty="0">
                <a:solidFill>
                  <a:schemeClr val="tx1"/>
                </a:solidFill>
                <a:latin typeface="Bodoni"/>
                <a:ea typeface="Bodoni"/>
                <a:cs typeface="Bodoni"/>
                <a:sym typeface="Bodoni"/>
              </a:rPr>
              <a:t>B. Personalized Fashion Boards</a:t>
            </a:r>
          </a:p>
          <a:p>
            <a:pPr algn="l"/>
            <a:r>
              <a:rPr lang="en-US" sz="2400" b="1" dirty="0">
                <a:latin typeface="Candara" panose="020E0502030303020204" pitchFamily="34" charset="0"/>
              </a:rPr>
              <a:t>           1.User-Created Boards</a:t>
            </a:r>
            <a:r>
              <a:rPr lang="en-US" sz="2400" dirty="0">
                <a:latin typeface="Candara" panose="020E0502030303020204" pitchFamily="34" charset="0"/>
              </a:rPr>
              <a:t>: Users can create fashion boards .</a:t>
            </a:r>
          </a:p>
          <a:p>
            <a:pPr algn="l"/>
            <a:r>
              <a:rPr lang="en-US" sz="2400" b="1" dirty="0">
                <a:latin typeface="Candara" panose="020E0502030303020204" pitchFamily="34" charset="0"/>
              </a:rPr>
              <a:t>           2.Follow and Share Boards</a:t>
            </a:r>
            <a:r>
              <a:rPr lang="en-US" sz="2400" dirty="0">
                <a:latin typeface="Candara" panose="020E0502030303020204" pitchFamily="34" charset="0"/>
              </a:rPr>
              <a:t>: Follow and share boards</a:t>
            </a:r>
          </a:p>
          <a:p>
            <a:pPr algn="l"/>
            <a:r>
              <a:rPr lang="en-US" sz="2400" dirty="0">
                <a:latin typeface="Candara" panose="020E0502030303020204" pitchFamily="34" charset="0"/>
              </a:rPr>
              <a:t>                on social media.</a:t>
            </a:r>
          </a:p>
          <a:p>
            <a:pPr algn="l"/>
            <a:r>
              <a:rPr lang="en-US" sz="2400" b="1" dirty="0">
                <a:latin typeface="Candara" panose="020E0502030303020204" pitchFamily="34" charset="0"/>
              </a:rPr>
              <a:t>           3. Influencer Boards</a:t>
            </a:r>
            <a:r>
              <a:rPr lang="en-US" sz="2400" dirty="0">
                <a:latin typeface="Candara" panose="020E0502030303020204" pitchFamily="34" charset="0"/>
              </a:rPr>
              <a:t>: Curate and shop looks from influencers.</a:t>
            </a:r>
            <a:endParaRPr lang="en-US" sz="3200" dirty="0">
              <a:solidFill>
                <a:schemeClr val="dk1"/>
              </a:solidFill>
              <a:latin typeface="Candara"/>
              <a:sym typeface="Candara"/>
            </a:endParaRP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3E6F4B-C5E0-F352-3FD1-8FA2478C7671}"/>
              </a:ext>
            </a:extLst>
          </p:cNvPr>
          <p:cNvSpPr/>
          <p:nvPr/>
        </p:nvSpPr>
        <p:spPr>
          <a:xfrm>
            <a:off x="751113" y="250357"/>
            <a:ext cx="4522545" cy="6357283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D67ED-B7F4-1F33-C39D-5B317352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56" y="374007"/>
            <a:ext cx="5344887" cy="6357283"/>
          </a:xfrm>
          <a:prstGeom prst="rect">
            <a:avLst/>
          </a:prstGeom>
        </p:spPr>
      </p:pic>
      <p:pic>
        <p:nvPicPr>
          <p:cNvPr id="6" name="Graphic 5" descr="Arrow: Slight curve with solid fill">
            <a:extLst>
              <a:ext uri="{FF2B5EF4-FFF2-40B4-BE49-F238E27FC236}">
                <a16:creationId xmlns:a16="http://schemas.microsoft.com/office/drawing/2014/main" id="{04CE8A83-1D22-EBCB-7A0B-923C9E4BC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839286">
            <a:off x="5368784" y="656293"/>
            <a:ext cx="1454426" cy="1454426"/>
          </a:xfrm>
          <a:prstGeom prst="rect">
            <a:avLst/>
          </a:prstGeom>
        </p:spPr>
      </p:pic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EAC0B59B-A543-E2B3-C240-8FBCCA2CE829}"/>
              </a:ext>
            </a:extLst>
          </p:cNvPr>
          <p:cNvSpPr/>
          <p:nvPr/>
        </p:nvSpPr>
        <p:spPr>
          <a:xfrm>
            <a:off x="9263300" y="-661584"/>
            <a:ext cx="2091452" cy="2120782"/>
          </a:xfrm>
          <a:prstGeom prst="flowChartConnector">
            <a:avLst/>
          </a:prstGeom>
          <a:solidFill>
            <a:schemeClr val="accent3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2A8A516-4E97-CF4B-68D6-8FAA2770D36B}"/>
              </a:ext>
            </a:extLst>
          </p:cNvPr>
          <p:cNvSpPr/>
          <p:nvPr/>
        </p:nvSpPr>
        <p:spPr>
          <a:xfrm>
            <a:off x="11011918" y="924075"/>
            <a:ext cx="2091452" cy="2120782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5ED545A-3652-3F13-1642-0BB496AE9319}"/>
              </a:ext>
            </a:extLst>
          </p:cNvPr>
          <p:cNvSpPr/>
          <p:nvPr/>
        </p:nvSpPr>
        <p:spPr>
          <a:xfrm>
            <a:off x="10514611" y="-194681"/>
            <a:ext cx="2091452" cy="2120782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F8D75A56-A23F-9A1D-12F3-3137EB96B045}"/>
              </a:ext>
            </a:extLst>
          </p:cNvPr>
          <p:cNvSpPr/>
          <p:nvPr/>
        </p:nvSpPr>
        <p:spPr>
          <a:xfrm>
            <a:off x="10514611" y="-194682"/>
            <a:ext cx="2091452" cy="2120782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18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5 0.15602 L 0.00365 0.15602 C 0.00326 0.16644 0.00287 0.21065 0.00039 0.22963 C -0.00039 0.23542 -0.00208 0.24074 -0.00286 0.24676 C -0.00403 0.25648 -0.00638 0.30139 -0.01237 0.32037 C -0.01367 0.32454 -0.01588 0.32778 -0.01719 0.33171 C -0.02526 0.35764 -0.01432 0.33542 -0.02669 0.35741 C -0.02786 0.36204 -0.02851 0.36713 -0.02995 0.37153 C -0.03294 0.38102 -0.04505 0.40301 -0.04752 0.40556 L -0.06341 0.42269 C -0.06614 0.42546 -0.06888 0.42801 -0.07148 0.43102 C -0.07617 0.43681 -0.08073 0.44306 -0.0858 0.44815 C -0.08932 0.45162 -0.09323 0.45394 -0.097 0.45671 C -0.10547 0.4625 -0.11367 0.47014 -0.12252 0.47361 C -0.15 0.48449 -0.12304 0.47431 -0.15599 0.48496 C -0.16549 0.4882 -0.175 0.49283 -0.18476 0.49352 C -0.20338 0.49514 -0.222 0.49537 -0.24062 0.4963 C -0.26627 0.50949 -0.23437 0.49398 -0.26927 0.50764 C -0.27786 0.51111 -0.28633 0.51528 -0.29479 0.51898 C -0.30221 0.52847 -0.30898 0.54005 -0.31719 0.54746 C -0.32148 0.55116 -0.32591 0.55417 -0.32995 0.5588 C -0.33828 0.56829 -0.34583 0.57986 -0.3539 0.59005 C -0.35703 0.59398 -0.35976 0.59908 -0.36341 0.60139 C -0.36979 0.60509 -0.37656 0.60741 -0.38255 0.61273 C -0.38476 0.61459 -0.38698 0.61621 -0.38893 0.61829 C -0.39192 0.62153 -0.39674 0.62963 -0.40013 0.63264 C -0.40247 0.63449 -0.40924 0.63727 -0.41133 0.6382 C -0.41289 0.64005 -0.41445 0.64236 -0.41614 0.64398 C -0.42942 0.65579 -0.43008 0.6544 -0.44323 0.66366 C -0.447 0.66644 -0.45065 0.66968 -0.45442 0.67222 C -0.46771 0.68148 -0.45963 0.675 -0.47031 0.68079 C -0.47357 0.68241 -0.47995 0.68658 -0.47995 0.68658 L -0.49583 0.68357 L -0.49583 0.68357 L -0.49583 0.68357 " pathEditMode="relative" ptsTypes="AAAAAAAAAAAAAAAAAAAAAAAAAAAAAAAAA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59259E-6 L 2.91667E-6 0.00023 C -0.00951 0.04004 -0.01953 0.07986 -0.02787 0.12106 C -0.03711 0.16713 -0.05261 0.26134 -0.05261 0.2618 C -0.05534 0.32106 -0.05209 0.26365 -0.0599 0.34259 C -0.06263 0.37014 -0.06875 0.44699 -0.07305 0.47963 C -0.075 0.49444 -0.078 0.50856 -0.08034 0.52315 C -0.0819 0.53356 -0.08229 0.54467 -0.08451 0.5544 C -0.0892 0.57407 -0.0931 0.59606 -0.10065 0.61041 C -0.11159 0.63125 -0.1267 0.66574 -0.14141 0.68217 C -0.14505 0.68657 -0.14922 0.68819 -0.15313 0.69143 C -0.17071 0.70764 -0.15521 0.69606 -0.16615 0.70416 L -0.2388 0.70092 C -0.24388 0.70046 -0.24388 0.69606 -0.24623 0.68865 C -0.24297 0.70926 -0.24362 0.69676 -0.25651 0.72569 C -0.26354 0.74166 -0.2711 0.75694 -0.27813 0.77268 C -0.27969 0.77569 -0.28086 0.78009 -0.28255 0.78171 C -0.28464 0.78403 -0.28659 0.78588 -0.28841 0.78819 C -0.29102 0.7912 -0.29297 0.79676 -0.29571 0.79768 C -0.30157 0.79953 -0.30742 0.79768 -0.31302 0.79768 L -0.31302 0.79791 L -0.31302 0.79768 " pathEditMode="relative" rAng="0" ptsTypes="AAAAAAAAAAAAAAAAAAAA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51" y="39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0528D9-D549-A497-3129-BD0BC95BA079}"/>
              </a:ext>
            </a:extLst>
          </p:cNvPr>
          <p:cNvSpPr/>
          <p:nvPr/>
        </p:nvSpPr>
        <p:spPr>
          <a:xfrm>
            <a:off x="5817140" y="2468265"/>
            <a:ext cx="6245158" cy="4389735"/>
          </a:xfrm>
          <a:prstGeom prst="round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06D6F-D6E1-00CE-1912-47953CB8A455}"/>
              </a:ext>
            </a:extLst>
          </p:cNvPr>
          <p:cNvSpPr txBox="1"/>
          <p:nvPr/>
        </p:nvSpPr>
        <p:spPr>
          <a:xfrm>
            <a:off x="700188" y="593797"/>
            <a:ext cx="68288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Candara" panose="020E0502030303020204" pitchFamily="34" charset="0"/>
                <a:sym typeface="Bodoni"/>
              </a:rPr>
              <a:t>C.  Gamification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ndara" panose="020E0502030303020204" pitchFamily="34" charset="0"/>
                <a:sym typeface="Bodoni"/>
              </a:rPr>
              <a:t> 1. </a:t>
            </a:r>
            <a:r>
              <a:rPr lang="en-US" dirty="0">
                <a:latin typeface="Candara" panose="020E0502030303020204" pitchFamily="34" charset="0"/>
                <a:sym typeface="Candara"/>
              </a:rPr>
              <a:t>Rewards and Badges: Offer rewards and badges for users who frequently use boards,  such as "Top Stylist" or "Fashion  Guru.“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ndara" panose="020E0502030303020204" pitchFamily="34" charset="0"/>
                <a:sym typeface="Bodoni"/>
              </a:rPr>
              <a:t> 2.</a:t>
            </a:r>
            <a:r>
              <a:rPr lang="en-US" dirty="0">
                <a:latin typeface="Candara" panose="020E0502030303020204" pitchFamily="34" charset="0"/>
              </a:rPr>
              <a:t> </a:t>
            </a:r>
            <a:r>
              <a:rPr lang="en-US" dirty="0">
                <a:latin typeface="Candara" panose="020E0502030303020204" pitchFamily="34" charset="0"/>
                <a:sym typeface="Candara"/>
              </a:rPr>
              <a:t>Challenges: Create style challenges where users can compete to create the best board for a chance to win discounts or  prizes</a:t>
            </a:r>
            <a:endParaRPr lang="en-IN" dirty="0">
              <a:latin typeface="Candara" panose="020E05020303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8D675-7414-E78D-F49C-0A6BDB63A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37847"/>
            <a:ext cx="5752289" cy="4050569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7A4D0299-A143-795F-2456-18664DFDF59B}"/>
              </a:ext>
            </a:extLst>
          </p:cNvPr>
          <p:cNvSpPr/>
          <p:nvPr/>
        </p:nvSpPr>
        <p:spPr>
          <a:xfrm>
            <a:off x="-1045726" y="2240709"/>
            <a:ext cx="2091452" cy="2120782"/>
          </a:xfrm>
          <a:prstGeom prst="flowChartConnector">
            <a:avLst/>
          </a:prstGeom>
          <a:solidFill>
            <a:schemeClr val="accent5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52E1B61-30C7-CA95-A566-2A1E5DDE923C}"/>
              </a:ext>
            </a:extLst>
          </p:cNvPr>
          <p:cNvSpPr/>
          <p:nvPr/>
        </p:nvSpPr>
        <p:spPr>
          <a:xfrm>
            <a:off x="10659891" y="-628117"/>
            <a:ext cx="2091452" cy="2120782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D02AF7-0083-BA97-D2F1-73D98AEF4068}"/>
              </a:ext>
            </a:extLst>
          </p:cNvPr>
          <p:cNvSpPr/>
          <p:nvPr/>
        </p:nvSpPr>
        <p:spPr>
          <a:xfrm>
            <a:off x="-470844" y="3556901"/>
            <a:ext cx="2091452" cy="212078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C57D87E6-BD87-C91E-C66C-0E02584304E2}"/>
              </a:ext>
            </a:extLst>
          </p:cNvPr>
          <p:cNvSpPr/>
          <p:nvPr/>
        </p:nvSpPr>
        <p:spPr>
          <a:xfrm>
            <a:off x="-470844" y="5214223"/>
            <a:ext cx="1451719" cy="1474193"/>
          </a:xfrm>
          <a:prstGeom prst="flowChartConnector">
            <a:avLst/>
          </a:prstGeom>
          <a:solidFill>
            <a:schemeClr val="accent3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AAA86404-9EFB-E8F3-1237-F86AB963BE82}"/>
              </a:ext>
            </a:extLst>
          </p:cNvPr>
          <p:cNvSpPr/>
          <p:nvPr/>
        </p:nvSpPr>
        <p:spPr>
          <a:xfrm>
            <a:off x="4114597" y="6120903"/>
            <a:ext cx="1451719" cy="1474193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99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85185E-6 C 0.06901 1.85185E-6 0.125 0.05602 0.125 0.125 C 0.125 0.19398 0.06901 0.25 4.58333E-6 0.25 C -0.06902 0.25 -0.125 0.19398 -0.125 0.125 C -0.125 0.05602 -0.06902 1.85185E-6 4.58333E-6 1.85185E-6 Z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CA4A458-ED23-1084-C649-FD300317D2E0}"/>
              </a:ext>
            </a:extLst>
          </p:cNvPr>
          <p:cNvSpPr/>
          <p:nvPr/>
        </p:nvSpPr>
        <p:spPr>
          <a:xfrm>
            <a:off x="10708520" y="-107886"/>
            <a:ext cx="1862849" cy="1925120"/>
          </a:xfrm>
          <a:prstGeom prst="flowChartConnector">
            <a:avLst/>
          </a:prstGeom>
          <a:solidFill>
            <a:schemeClr val="accent5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6ECD4-7A2A-D378-0655-F5E26A3C4CC8}"/>
              </a:ext>
            </a:extLst>
          </p:cNvPr>
          <p:cNvSpPr txBox="1"/>
          <p:nvPr/>
        </p:nvSpPr>
        <p:spPr>
          <a:xfrm>
            <a:off x="3158246" y="817124"/>
            <a:ext cx="587550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Bodoni"/>
                <a:ea typeface="Bodoni"/>
                <a:cs typeface="Bodoni"/>
                <a:sym typeface="Bodoni"/>
              </a:rPr>
              <a:t>D. Wishlist And Exclusive Collections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000" b="1" dirty="0">
                <a:latin typeface="Candara"/>
                <a:ea typeface="Candara"/>
                <a:cs typeface="Candara"/>
                <a:sym typeface="Candara"/>
              </a:rPr>
              <a:t>Early Access:</a:t>
            </a:r>
            <a:r>
              <a:rPr lang="en-US" sz="2000" dirty="0"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000" dirty="0">
                <a:latin typeface="Candara" panose="020E0502030303020204" pitchFamily="34" charset="0"/>
              </a:rPr>
              <a:t>Early access to new arrivals and sales.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000" b="1" dirty="0">
                <a:latin typeface="Candara"/>
                <a:ea typeface="Candara"/>
                <a:cs typeface="Candara"/>
                <a:sym typeface="Candara"/>
              </a:rPr>
              <a:t>Seamless Wishlist:</a:t>
            </a:r>
            <a:r>
              <a:rPr lang="en-US" sz="2000" dirty="0">
                <a:latin typeface="Candara"/>
                <a:ea typeface="Candara"/>
                <a:cs typeface="Candara"/>
                <a:sym typeface="Candara"/>
              </a:rPr>
              <a:t> Integrate boards with the user's </a:t>
            </a:r>
            <a:r>
              <a:rPr lang="en-US" sz="2000" dirty="0" err="1">
                <a:latin typeface="Candara"/>
                <a:ea typeface="Candara"/>
                <a:cs typeface="Candara"/>
                <a:sym typeface="Candara"/>
              </a:rPr>
              <a:t>wishlist</a:t>
            </a:r>
            <a:r>
              <a:rPr lang="en-US" sz="2000" dirty="0">
                <a:latin typeface="Candara"/>
                <a:ea typeface="Candara"/>
                <a:cs typeface="Candara"/>
                <a:sym typeface="Candara"/>
              </a:rPr>
              <a:t> for easy move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000" dirty="0">
                <a:latin typeface="Candara"/>
                <a:ea typeface="Candara"/>
                <a:cs typeface="Candara"/>
                <a:sym typeface="Candara"/>
              </a:rPr>
              <a:t>between </a:t>
            </a:r>
            <a:r>
              <a:rPr lang="en-US" sz="2000" dirty="0" err="1">
                <a:latin typeface="Candara"/>
                <a:ea typeface="Candara"/>
                <a:cs typeface="Candara"/>
                <a:sym typeface="Candara"/>
              </a:rPr>
              <a:t>wishlist</a:t>
            </a:r>
            <a:r>
              <a:rPr lang="en-US" sz="2000" dirty="0">
                <a:latin typeface="Candara"/>
                <a:ea typeface="Candara"/>
                <a:cs typeface="Candara"/>
                <a:sym typeface="Candara"/>
              </a:rPr>
              <a:t> and various boards.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2AC6E-D6E1-F8D8-EA27-E1B98F38F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340" y="3915469"/>
            <a:ext cx="4134786" cy="2645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C387B1-6985-4C00-4C17-ADC1166F6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034" y="2933731"/>
            <a:ext cx="3715966" cy="2723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38B4D3-705B-9D4C-3A99-70FE95469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83" y="3033115"/>
            <a:ext cx="3702995" cy="2525026"/>
          </a:xfrm>
          <a:prstGeom prst="rect">
            <a:avLst/>
          </a:prstGeom>
        </p:spPr>
      </p:pic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4343BD75-EB99-C010-B32B-1ACF14CDA48E}"/>
              </a:ext>
            </a:extLst>
          </p:cNvPr>
          <p:cNvSpPr/>
          <p:nvPr/>
        </p:nvSpPr>
        <p:spPr>
          <a:xfrm>
            <a:off x="10708520" y="-145436"/>
            <a:ext cx="1862849" cy="1925120"/>
          </a:xfrm>
          <a:prstGeom prst="flowChartConnector">
            <a:avLst/>
          </a:prstGeom>
          <a:solidFill>
            <a:schemeClr val="accent5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3EFD5F2F-6E98-BB9F-FA6D-21FAE99C58D0}"/>
              </a:ext>
            </a:extLst>
          </p:cNvPr>
          <p:cNvSpPr/>
          <p:nvPr/>
        </p:nvSpPr>
        <p:spPr>
          <a:xfrm>
            <a:off x="11146274" y="906299"/>
            <a:ext cx="2091452" cy="2120782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F632A7A-940E-A3BB-02EC-7E97229E8658}"/>
              </a:ext>
            </a:extLst>
          </p:cNvPr>
          <p:cNvSpPr/>
          <p:nvPr/>
        </p:nvSpPr>
        <p:spPr>
          <a:xfrm>
            <a:off x="9373226" y="-962560"/>
            <a:ext cx="1862849" cy="1925120"/>
          </a:xfrm>
          <a:prstGeom prst="flowChartConnector">
            <a:avLst/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9CB496CD-25F6-9A95-2171-9C4EFD13AA33}"/>
              </a:ext>
            </a:extLst>
          </p:cNvPr>
          <p:cNvSpPr/>
          <p:nvPr/>
        </p:nvSpPr>
        <p:spPr>
          <a:xfrm>
            <a:off x="-875490" y="716200"/>
            <a:ext cx="1862849" cy="16661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00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313 0.05394 L -0.05313 0.05394 L -0.13933 0.0625 C -0.14636 0.06343 -0.15313 0.06806 -0.16016 0.06806 C -0.17396 0.06806 -0.18776 0.06435 -0.20156 0.0625 C -0.2043 0.06065 -0.20677 0.0581 -0.20951 0.05671 C -0.21263 0.05533 -0.21602 0.05579 -0.21914 0.05394 C -0.2461 0.03796 -0.2138 0.0507 -0.23672 0.04259 C -0.24037 0.03796 -0.24388 0.03264 -0.24792 0.02847 C -0.26406 0.01158 -0.26524 0.01528 -0.28295 -1.48148E-6 C -0.34505 -0.05278 -0.25768 0.01551 -0.3181 -0.02824 C -0.32643 -0.03449 -0.33893 -0.04653 -0.34844 -0.05092 C -0.35196 -0.05278 -0.35586 -0.05278 -0.35951 -0.0537 C -0.38125 -0.06829 -0.36328 -0.05856 -0.38828 -0.06504 C -0.42018 -0.07361 -0.38789 -0.07199 -0.4362 -0.07361 L -0.57331 -0.07639 C -0.59362 -0.07454 -0.6138 -0.07361 -0.63399 -0.07083 C -0.64102 -0.06991 -0.64779 -0.0662 -0.65469 -0.06504 C -0.66693 -0.06342 -0.67917 -0.06342 -0.69141 -0.06227 C -0.69883 -0.06157 -0.70638 -0.06018 -0.7138 -0.05949 C -0.72709 -0.05833 -0.74037 -0.05764 -0.75365 -0.05671 C -0.75925 -0.0544 -0.78893 -0.04444 -0.79675 -0.03403 C -0.79909 -0.03079 -0.79883 -0.02454 -0.79987 -0.01967 C -0.79206 0.02708 -0.7974 -0.00787 -0.79349 0.02269 C -0.79154 0.03866 -0.79193 0.02894 -0.79193 0.04259 L -0.79349 0.01134 " pathEditMode="relative" ptsTypes="AAAAAAAAAAAAAAAAAAAAAAAAAA">
                                      <p:cBhvr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3BF34E-2FEA-3917-303D-649910D67281}"/>
              </a:ext>
            </a:extLst>
          </p:cNvPr>
          <p:cNvSpPr/>
          <p:nvPr/>
        </p:nvSpPr>
        <p:spPr>
          <a:xfrm>
            <a:off x="7129571" y="250358"/>
            <a:ext cx="4522545" cy="6357283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24B27-8D71-0A3D-83ED-7DEBF9675616}"/>
              </a:ext>
            </a:extLst>
          </p:cNvPr>
          <p:cNvSpPr txBox="1"/>
          <p:nvPr/>
        </p:nvSpPr>
        <p:spPr>
          <a:xfrm>
            <a:off x="539884" y="1233181"/>
            <a:ext cx="67558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Bodoni"/>
              <a:ea typeface="Bodoni"/>
              <a:cs typeface="Bodoni"/>
              <a:sym typeface="Bodoni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Bodoni"/>
                <a:ea typeface="Bodoni"/>
                <a:cs typeface="Bodoni"/>
                <a:sym typeface="Bodoni"/>
              </a:rPr>
              <a:t>  </a:t>
            </a:r>
            <a:r>
              <a:rPr lang="en-US" sz="2000" dirty="0">
                <a:latin typeface="Bodoni"/>
                <a:ea typeface="Bodoni"/>
                <a:cs typeface="Bodoni"/>
                <a:sym typeface="Bodoni"/>
              </a:rPr>
              <a:t>A.  Seamless Connections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andara"/>
                <a:ea typeface="Candara"/>
                <a:cs typeface="Candara"/>
                <a:sym typeface="Candara"/>
              </a:rPr>
              <a:t>          </a:t>
            </a:r>
            <a:r>
              <a:rPr lang="en-US" sz="1800" dirty="0">
                <a:latin typeface="Candara" panose="020E0502030303020204" pitchFamily="34" charset="0"/>
              </a:rPr>
              <a:t>Find local NGOs for clothing donations.</a:t>
            </a:r>
            <a:endParaRPr lang="en-US" sz="1800" dirty="0">
              <a:latin typeface="Candara" panose="020E0502030303020204" pitchFamily="34" charset="0"/>
              <a:sym typeface="Candar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Bodoni"/>
                <a:ea typeface="Bodoni"/>
                <a:cs typeface="Bodoni"/>
                <a:sym typeface="Bodoni"/>
              </a:rPr>
              <a:t>  B.</a:t>
            </a:r>
            <a:r>
              <a:rPr lang="en-US" sz="2400" dirty="0">
                <a:latin typeface="Bodoni"/>
                <a:ea typeface="Bodoni"/>
                <a:cs typeface="Bodoni"/>
                <a:sym typeface="Bodoni"/>
              </a:rPr>
              <a:t>  </a:t>
            </a:r>
            <a:r>
              <a:rPr lang="en-US" sz="2000" dirty="0">
                <a:latin typeface="Bodoni"/>
                <a:ea typeface="Bodoni"/>
                <a:cs typeface="Bodoni"/>
                <a:sym typeface="Bodoni"/>
              </a:rPr>
              <a:t>Simple Donation Process and Community Engagement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       1. Select items, arrange drop-off/pick-up.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       2. Track impact and join a network of givers.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B4464-B19D-EE87-8473-097EC1778717}"/>
              </a:ext>
            </a:extLst>
          </p:cNvPr>
          <p:cNvSpPr txBox="1"/>
          <p:nvPr/>
        </p:nvSpPr>
        <p:spPr>
          <a:xfrm>
            <a:off x="580008" y="463740"/>
            <a:ext cx="57198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Bodoni" panose="020B0604020202020204" charset="0"/>
              </a:rPr>
              <a:t>WARM THREADS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EABE37-87CF-3A6A-C1CB-2634C019B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315" y="185481"/>
            <a:ext cx="3161230" cy="6487036"/>
          </a:xfrm>
          <a:prstGeom prst="rect">
            <a:avLst/>
          </a:prstGeom>
        </p:spPr>
      </p:pic>
      <p:pic>
        <p:nvPicPr>
          <p:cNvPr id="10" name="Graphic 9" descr="Arrow: Slight curve with solid fill">
            <a:extLst>
              <a:ext uri="{FF2B5EF4-FFF2-40B4-BE49-F238E27FC236}">
                <a16:creationId xmlns:a16="http://schemas.microsoft.com/office/drawing/2014/main" id="{7BCAA7D4-E479-0110-C876-2644738E0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34212">
            <a:off x="5290496" y="2701786"/>
            <a:ext cx="1454426" cy="1454426"/>
          </a:xfrm>
          <a:prstGeom prst="rect">
            <a:avLst/>
          </a:prstGeom>
        </p:spPr>
      </p:pic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9539125B-25A9-D439-9EA8-481942CFAFC7}"/>
              </a:ext>
            </a:extLst>
          </p:cNvPr>
          <p:cNvSpPr/>
          <p:nvPr/>
        </p:nvSpPr>
        <p:spPr>
          <a:xfrm>
            <a:off x="-99709" y="5356146"/>
            <a:ext cx="1862849" cy="1666194"/>
          </a:xfrm>
          <a:prstGeom prst="flowChartConnector">
            <a:avLst/>
          </a:prstGeom>
          <a:solidFill>
            <a:schemeClr val="accent3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3674665-9723-DF14-375B-159EC138F4D8}"/>
              </a:ext>
            </a:extLst>
          </p:cNvPr>
          <p:cNvSpPr/>
          <p:nvPr/>
        </p:nvSpPr>
        <p:spPr>
          <a:xfrm>
            <a:off x="-875491" y="3428999"/>
            <a:ext cx="1862849" cy="166619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3FC84836-5414-EB44-5791-15E4D075CC8E}"/>
              </a:ext>
            </a:extLst>
          </p:cNvPr>
          <p:cNvSpPr/>
          <p:nvPr/>
        </p:nvSpPr>
        <p:spPr>
          <a:xfrm>
            <a:off x="-1011335" y="4424991"/>
            <a:ext cx="2148790" cy="20313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FA609B98-467F-1E07-AE36-8C1348C6401D}"/>
              </a:ext>
            </a:extLst>
          </p:cNvPr>
          <p:cNvSpPr/>
          <p:nvPr/>
        </p:nvSpPr>
        <p:spPr>
          <a:xfrm>
            <a:off x="-1018462" y="4424991"/>
            <a:ext cx="2148790" cy="20313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40EDFA5-7272-933D-A026-D10029693E2C}"/>
              </a:ext>
            </a:extLst>
          </p:cNvPr>
          <p:cNvSpPr/>
          <p:nvPr/>
        </p:nvSpPr>
        <p:spPr>
          <a:xfrm>
            <a:off x="5334425" y="5987267"/>
            <a:ext cx="1862849" cy="1666194"/>
          </a:xfrm>
          <a:prstGeom prst="flowChartConnector">
            <a:avLst/>
          </a:prstGeom>
          <a:solidFill>
            <a:schemeClr val="accent3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7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9 0.03796 L 0.0289 0.03796 L 0.06237 0.07199 C 0.06653 0.07592 0.07096 0.07916 0.07513 0.08333 C 0.10716 0.11481 0.075 0.08472 0.10703 0.12014 C 0.11276 0.12639 0.11901 0.13078 0.12461 0.13703 C 0.12656 0.13935 0.12747 0.14352 0.12942 0.1456 C 0.13346 0.15023 0.13776 0.1537 0.14218 0.15694 C 0.15338 0.16551 0.16523 0.17129 0.17565 0.1824 C 0.18685 0.19444 0.18997 0.19884 0.20599 0.20509 C 0.26536 0.22824 0.23971 0.22315 0.28268 0.22801 C 0.28633 0.22685 0.29036 0.22754 0.29375 0.225 C 0.29987 0.2206 0.29948 0.20787 0.30182 0.19953 C 0.3069 0.18148 0.3069 0.18611 0.31289 0.17407 C 0.3237 0.15254 0.31679 0.1618 0.32578 0.15139 C 0.32682 0.14745 0.32721 0.14305 0.3289 0.14004 C 0.3306 0.13703 0.3332 0.13634 0.33528 0.13426 C 0.34401 0.12546 0.33607 0.13102 0.34492 0.12569 C 0.35338 0.12662 0.36198 0.12639 0.37044 0.1287 C 0.37617 0.13009 0.38151 0.13842 0.38633 0.14282 C 0.38789 0.14421 0.38958 0.14467 0.39114 0.1456 C 0.39388 0.14745 0.39648 0.14953 0.39909 0.15139 C 0.40989 0.15833 0.40651 0.16111 0.41185 0.15139 L 0.41185 0.15139 " pathEditMode="relative" ptsTypes="AAAAAAAAAAAAAAAAAAAAAAAA">
                                      <p:cBhvr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15E8-E01D-DFC8-FCCA-9911710D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055" y="511453"/>
            <a:ext cx="8610600" cy="1293028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Bodoni" panose="020B0604020202020204" charset="0"/>
              </a:rPr>
              <a:t>TECH - STACK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3B1E8-4466-0DF5-9678-24266458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53" y="1994396"/>
            <a:ext cx="1568531" cy="1701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EABF63-DB79-5EED-3DE9-7CEE649BC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965" y="2805406"/>
            <a:ext cx="1759040" cy="16574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263C8D-36A0-DA3A-9773-094228936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343" y="2192125"/>
            <a:ext cx="2025754" cy="16955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6931D6-614D-5AB4-9920-5D4DE29DE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2164" y="2492716"/>
            <a:ext cx="1759040" cy="1970125"/>
          </a:xfrm>
          <a:prstGeom prst="rect">
            <a:avLst/>
          </a:prstGeom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589149E-7B64-5772-8244-A2BA6C157CDB}"/>
              </a:ext>
            </a:extLst>
          </p:cNvPr>
          <p:cNvSpPr/>
          <p:nvPr/>
        </p:nvSpPr>
        <p:spPr>
          <a:xfrm>
            <a:off x="11054289" y="2157823"/>
            <a:ext cx="1862849" cy="1666194"/>
          </a:xfrm>
          <a:prstGeom prst="flowChartConnector">
            <a:avLst/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933AC532-D91D-251B-01CF-2F142B520C0F}"/>
              </a:ext>
            </a:extLst>
          </p:cNvPr>
          <p:cNvSpPr/>
          <p:nvPr/>
        </p:nvSpPr>
        <p:spPr>
          <a:xfrm>
            <a:off x="-931425" y="-25781"/>
            <a:ext cx="1862849" cy="1666194"/>
          </a:xfrm>
          <a:prstGeom prst="flowChartConnector">
            <a:avLst/>
          </a:prstGeom>
          <a:solidFill>
            <a:schemeClr val="accent3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6BF31A2D-61E7-EA09-FA3F-0F3477FB7181}"/>
              </a:ext>
            </a:extLst>
          </p:cNvPr>
          <p:cNvSpPr/>
          <p:nvPr/>
        </p:nvSpPr>
        <p:spPr>
          <a:xfrm>
            <a:off x="-860044" y="1131001"/>
            <a:ext cx="1862849" cy="16661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EDCF8D9-DB7A-FD78-B91D-DBAD697A0760}"/>
              </a:ext>
            </a:extLst>
          </p:cNvPr>
          <p:cNvSpPr/>
          <p:nvPr/>
        </p:nvSpPr>
        <p:spPr>
          <a:xfrm>
            <a:off x="11133346" y="3344262"/>
            <a:ext cx="1862849" cy="1666194"/>
          </a:xfrm>
          <a:prstGeom prst="flowChartConnector">
            <a:avLst/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67EB3-408F-6CE0-BC2A-E7C5A3F5A3DC}"/>
              </a:ext>
            </a:extLst>
          </p:cNvPr>
          <p:cNvSpPr txBox="1"/>
          <p:nvPr/>
        </p:nvSpPr>
        <p:spPr>
          <a:xfrm>
            <a:off x="992652" y="3726581"/>
            <a:ext cx="1568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Bodoni" panose="020B0604020202020204" charset="0"/>
              </a:rPr>
              <a:t>JavaScript</a:t>
            </a:r>
            <a:endParaRPr lang="en-IN" dirty="0">
              <a:latin typeface="Bodoni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86BC0-FCE8-E480-D342-ECDE85FEA5B3}"/>
              </a:ext>
            </a:extLst>
          </p:cNvPr>
          <p:cNvSpPr txBox="1"/>
          <p:nvPr/>
        </p:nvSpPr>
        <p:spPr>
          <a:xfrm>
            <a:off x="3855263" y="4570151"/>
            <a:ext cx="1446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Bodoni" panose="020B0604020202020204" charset="0"/>
              </a:rPr>
              <a:t>React</a:t>
            </a:r>
            <a:endParaRPr lang="en-IN" dirty="0">
              <a:latin typeface="Bodoni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59CC5-4D38-9E9A-4868-4265CDBC5C7B}"/>
              </a:ext>
            </a:extLst>
          </p:cNvPr>
          <p:cNvSpPr txBox="1"/>
          <p:nvPr/>
        </p:nvSpPr>
        <p:spPr>
          <a:xfrm>
            <a:off x="6506645" y="4090640"/>
            <a:ext cx="1476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latin typeface="Bodoni" panose="020B0604020202020204" charset="0"/>
              </a:rPr>
              <a:t>Bootstrap</a:t>
            </a:r>
            <a:endParaRPr lang="en-IN" dirty="0">
              <a:latin typeface="Bodoni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1E17C-AD1B-8AE9-8370-D7F2792A98F2}"/>
              </a:ext>
            </a:extLst>
          </p:cNvPr>
          <p:cNvSpPr txBox="1"/>
          <p:nvPr/>
        </p:nvSpPr>
        <p:spPr>
          <a:xfrm>
            <a:off x="9344760" y="4641124"/>
            <a:ext cx="1446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odoni" panose="020B0604020202020204" charset="0"/>
              </a:rPr>
              <a:t>Webpack</a:t>
            </a:r>
            <a:endParaRPr lang="en-IN" dirty="0">
              <a:latin typeface="Bodoni" panose="020B0604020202020204" charset="0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107FE3C-180B-718E-393E-E7EAA5EA5147}"/>
              </a:ext>
            </a:extLst>
          </p:cNvPr>
          <p:cNvSpPr/>
          <p:nvPr/>
        </p:nvSpPr>
        <p:spPr>
          <a:xfrm>
            <a:off x="11396431" y="4462841"/>
            <a:ext cx="1599764" cy="1505757"/>
          </a:xfrm>
          <a:prstGeom prst="flowChartConnector">
            <a:avLst/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E879132-5476-AD23-BDB0-4A2E5832C83B}"/>
              </a:ext>
            </a:extLst>
          </p:cNvPr>
          <p:cNvSpPr/>
          <p:nvPr/>
        </p:nvSpPr>
        <p:spPr>
          <a:xfrm>
            <a:off x="-860044" y="1139212"/>
            <a:ext cx="1862849" cy="16661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28E20B-C67E-F8BE-C0B7-79DE654A9A01}"/>
              </a:ext>
            </a:extLst>
          </p:cNvPr>
          <p:cNvSpPr txBox="1"/>
          <p:nvPr/>
        </p:nvSpPr>
        <p:spPr>
          <a:xfrm>
            <a:off x="1517982" y="5279963"/>
            <a:ext cx="3145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299212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62 0.10764 L 0.01562 0.10764 C 0.01575 0.1162 0.01641 0.14352 0.01732 0.15509 C 0.01862 0.17153 0.01992 0.18796 0.02174 0.2044 C 0.02383 0.22199 0.02682 0.23912 0.02891 0.25671 C 0.03008 0.26667 0.03008 0.27708 0.03164 0.28681 C 0.03307 0.2963 0.03581 0.30486 0.03789 0.31389 C 0.03906 0.31921 0.03958 0.325 0.04141 0.32986 C 0.04349 0.33495 0.04583 0.34005 0.04766 0.3456 C 0.04857 0.34815 0.04844 0.35139 0.04948 0.35347 C 0.05156 0.35787 0.0543 0.36088 0.05664 0.36458 C 0.0582 0.36713 0.05937 0.37037 0.06107 0.37269 C 0.07331 0.38843 0.07838 0.39421 0.09141 0.40278 C 0.09284 0.4037 0.0944 0.40394 0.09583 0.4044 L 0.13607 0.39329 C 0.14141 0.3919 0.14674 0.39051 0.15208 0.39005 C 0.15599 0.38981 0.1599 0.3912 0.1638 0.39167 C 0.1681 0.39421 0.17734 0.39884 0.18164 0.4044 C 0.18424 0.40787 0.18659 0.4125 0.18867 0.41713 C 0.19232 0.42523 0.19453 0.43519 0.19857 0.44259 C 0.20195 0.44861 0.20625 0.45509 0.20833 0.46319 C 0.21055 0.4713 0.21185 0.48009 0.21367 0.48843 C 0.21706 0.5037 0.2224 0.52176 0.22799 0.53287 C 0.2293 0.53565 0.2401 0.55787 0.24232 0.55995 C 0.24492 0.5625 0.24753 0.56574 0.25039 0.56782 C 0.26432 0.57894 0.27383 0.58194 0.28958 0.58843 C 0.29141 0.58935 0.29323 0.58958 0.29492 0.59005 C 0.29909 0.58843 0.30325 0.58657 0.30742 0.58542 C 0.31393 0.58333 0.32057 0.58287 0.32708 0.58056 C 0.33581 0.57755 0.34427 0.57245 0.35299 0.56944 C 0.36523 0.56528 0.37591 0.56366 0.38776 0.56157 C 0.39102 0.56204 0.3944 0.56227 0.39766 0.56319 C 0.40703 0.56528 0.41146 0.58079 0.41901 0.59167 C 0.42135 0.59514 0.42396 0.59792 0.42617 0.60116 C 0.42773 0.6037 0.42904 0.60671 0.4306 0.60926 C 0.43503 0.6162 0.43984 0.62245 0.44401 0.62986 C 0.4474 0.63588 0.45065 0.64236 0.45469 0.64722 C 0.45768 0.65069 0.46042 0.65486 0.46367 0.65671 C 0.47213 0.66181 0.46719 0.65972 0.47891 0.66157 C 0.48008 0.66204 0.48125 0.66296 0.48242 0.66319 C 0.49779 0.66597 0.49323 0.65856 0.49766 0.66644 L 0.49766 0.66644 " pathEditMode="relative" ptsTypes="AAAAAAAAAAAAAAAAAAAAAAAAAAAAAAAAAAAAAAAAAA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4CBBE4-C09F-50F9-5C93-C04753C28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604" y="1359899"/>
            <a:ext cx="1606633" cy="17209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D35334-1B3C-C3E6-AE75-F1FBCDC10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978" y="1345888"/>
            <a:ext cx="2686188" cy="1606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5612E4-E597-4F8F-20E9-444F45AAD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434" y="4542708"/>
            <a:ext cx="2673487" cy="16066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96F8FA-4B45-8FA1-094D-C520DD1FA50D}"/>
              </a:ext>
            </a:extLst>
          </p:cNvPr>
          <p:cNvSpPr txBox="1"/>
          <p:nvPr/>
        </p:nvSpPr>
        <p:spPr>
          <a:xfrm>
            <a:off x="4533322" y="3198167"/>
            <a:ext cx="1606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Bodoni" panose="020B0604020202020204" charset="0"/>
              </a:rPr>
              <a:t>Node</a:t>
            </a:r>
            <a:r>
              <a:rPr lang="en-IN" dirty="0"/>
              <a:t>.</a:t>
            </a:r>
            <a:r>
              <a:rPr lang="en-IN" sz="2400" dirty="0">
                <a:latin typeface="Bodoni" panose="020B0604020202020204" charset="0"/>
              </a:rPr>
              <a:t>js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271F2-5E02-92B7-EEE0-8CBFC8B3CA1F}"/>
              </a:ext>
            </a:extLst>
          </p:cNvPr>
          <p:cNvSpPr txBox="1"/>
          <p:nvPr/>
        </p:nvSpPr>
        <p:spPr>
          <a:xfrm>
            <a:off x="7658679" y="2967335"/>
            <a:ext cx="2673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Bodoni" panose="020B0604020202020204" charset="0"/>
              </a:rPr>
              <a:t>Express.js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486DF-4C1A-EB35-031F-C651FF2013C8}"/>
              </a:ext>
            </a:extLst>
          </p:cNvPr>
          <p:cNvSpPr txBox="1"/>
          <p:nvPr/>
        </p:nvSpPr>
        <p:spPr>
          <a:xfrm>
            <a:off x="3007040" y="6154630"/>
            <a:ext cx="2673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Bodoni" panose="020B0604020202020204" charset="0"/>
              </a:rPr>
              <a:t>Mongo DB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D85DC-7378-DB0A-6935-676685DEC5E4}"/>
              </a:ext>
            </a:extLst>
          </p:cNvPr>
          <p:cNvSpPr txBox="1"/>
          <p:nvPr/>
        </p:nvSpPr>
        <p:spPr>
          <a:xfrm>
            <a:off x="2329542" y="387758"/>
            <a:ext cx="2808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BACKEND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CBA84-57CE-1998-0695-E2F2F8A30659}"/>
              </a:ext>
            </a:extLst>
          </p:cNvPr>
          <p:cNvSpPr txBox="1"/>
          <p:nvPr/>
        </p:nvSpPr>
        <p:spPr>
          <a:xfrm>
            <a:off x="6479280" y="5371786"/>
            <a:ext cx="283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DATABASE</a:t>
            </a:r>
          </a:p>
        </p:txBody>
      </p:sp>
      <p:pic>
        <p:nvPicPr>
          <p:cNvPr id="10" name="Graphic 9" descr="Arrow: Slight curve with solid fill">
            <a:extLst>
              <a:ext uri="{FF2B5EF4-FFF2-40B4-BE49-F238E27FC236}">
                <a16:creationId xmlns:a16="http://schemas.microsoft.com/office/drawing/2014/main" id="{7C6F62C6-9F18-C67B-8EBF-F62E334F77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834212">
            <a:off x="3068584" y="803080"/>
            <a:ext cx="1454426" cy="1454426"/>
          </a:xfrm>
          <a:prstGeom prst="rect">
            <a:avLst/>
          </a:prstGeom>
        </p:spPr>
      </p:pic>
      <p:pic>
        <p:nvPicPr>
          <p:cNvPr id="11" name="Graphic 10" descr="Arrow: Slight curve with solid fill">
            <a:extLst>
              <a:ext uri="{FF2B5EF4-FFF2-40B4-BE49-F238E27FC236}">
                <a16:creationId xmlns:a16="http://schemas.microsoft.com/office/drawing/2014/main" id="{25541A54-A5FB-9317-5442-33912573C9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1009035">
            <a:off x="5598767" y="4374563"/>
            <a:ext cx="1454426" cy="1454426"/>
          </a:xfrm>
          <a:prstGeom prst="rect">
            <a:avLst/>
          </a:prstGeom>
        </p:spPr>
      </p:pic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1EEA863-28CB-7E19-8E74-9F6CDD3D2440}"/>
              </a:ext>
            </a:extLst>
          </p:cNvPr>
          <p:cNvSpPr/>
          <p:nvPr/>
        </p:nvSpPr>
        <p:spPr>
          <a:xfrm>
            <a:off x="-931425" y="-25781"/>
            <a:ext cx="1862849" cy="1666194"/>
          </a:xfrm>
          <a:prstGeom prst="flowChartConnector">
            <a:avLst/>
          </a:prstGeom>
          <a:solidFill>
            <a:schemeClr val="accent3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0AE3FA6-89C2-F348-6F4B-8A7D923456A8}"/>
              </a:ext>
            </a:extLst>
          </p:cNvPr>
          <p:cNvSpPr/>
          <p:nvPr/>
        </p:nvSpPr>
        <p:spPr>
          <a:xfrm>
            <a:off x="-461162" y="1034089"/>
            <a:ext cx="1862849" cy="16661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1AA014DE-2814-FB0B-7B02-9FD150EE68D8}"/>
              </a:ext>
            </a:extLst>
          </p:cNvPr>
          <p:cNvSpPr/>
          <p:nvPr/>
        </p:nvSpPr>
        <p:spPr>
          <a:xfrm>
            <a:off x="10724844" y="3198167"/>
            <a:ext cx="1862849" cy="1666194"/>
          </a:xfrm>
          <a:prstGeom prst="flowChartConnector">
            <a:avLst/>
          </a:prstGeom>
          <a:solidFill>
            <a:schemeClr val="accent5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43E3A989-C54B-9E4C-1AC3-4239FF03AFD4}"/>
              </a:ext>
            </a:extLst>
          </p:cNvPr>
          <p:cNvSpPr/>
          <p:nvPr/>
        </p:nvSpPr>
        <p:spPr>
          <a:xfrm>
            <a:off x="10919465" y="2365070"/>
            <a:ext cx="1862849" cy="1666194"/>
          </a:xfrm>
          <a:prstGeom prst="flowChartConnector">
            <a:avLst/>
          </a:prstGeom>
          <a:solidFill>
            <a:srgbClr val="0070C0"/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CB93A5EE-EC0D-5801-EA7A-79BAD3088E20}"/>
              </a:ext>
            </a:extLst>
          </p:cNvPr>
          <p:cNvSpPr/>
          <p:nvPr/>
        </p:nvSpPr>
        <p:spPr>
          <a:xfrm>
            <a:off x="-655783" y="2164376"/>
            <a:ext cx="1457506" cy="1304747"/>
          </a:xfrm>
          <a:prstGeom prst="flowChartConnector">
            <a:avLst/>
          </a:prstGeom>
          <a:solidFill>
            <a:schemeClr val="accent1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97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867 0.07037 L 0.03867 0.07037 C 0.04362 0.07454 0.04935 0.07685 0.05378 0.08287 C 0.05977 0.09143 0.06393 0.10301 0.06901 0.11319 C 0.08398 0.14352 0.07839 0.13264 0.09401 0.17824 C 0.09635 0.18495 0.09844 0.19236 0.10104 0.19884 C 0.10286 0.20301 0.10495 0.20694 0.10651 0.21157 C 0.1082 0.2169 0.10911 0.22338 0.11094 0.22893 C 0.11276 0.23449 0.11536 0.23912 0.11719 0.24491 C 0.12253 0.26111 0.13216 0.29977 0.13945 0.31458 C 0.14648 0.3287 0.1431 0.3243 0.14844 0.33055 C 0.1599 0.37129 0.14323 0.31574 0.15104 0.33217 C 0.15508 0.34028 0.15742 0.35046 0.16094 0.35903 C 0.1651 0.36944 0.17005 0.37893 0.17435 0.38912 C 0.17656 0.39467 0.1819 0.41157 0.18503 0.41782 C 0.21458 0.47616 0.18867 0.42592 0.19935 0.44166 C 0.20026 0.44305 0.20104 0.44491 0.20195 0.44629 C 0.20586 0.45231 0.20911 0.45972 0.21354 0.46389 C 0.22565 0.47454 0.21263 0.46204 0.22344 0.47477 C 0.2263 0.47824 0.22956 0.48079 0.23229 0.48449 C 0.24674 0.50301 0.23255 0.48866 0.2457 0.50347 C 0.24922 0.50741 0.25299 0.51041 0.25651 0.51458 C 0.25924 0.51782 0.26146 0.52291 0.26445 0.52569 C 0.26615 0.52708 0.2681 0.52662 0.26979 0.52731 C 0.27526 0.52916 0.2806 0.53079 0.28594 0.53356 C 0.30208 0.54236 0.31784 0.55393 0.33411 0.56227 C 0.34115 0.56574 0.34844 0.5662 0.3556 0.56852 C 0.35677 0.56898 0.35794 0.56967 0.35911 0.57014 C 0.36836 0.57245 0.38125 0.57268 0.38945 0.57338 C 0.41628 0.56713 0.40768 0.5706 0.43763 0.55579 C 0.4431 0.55324 0.4526 0.54676 0.45911 0.54467 C 0.46328 0.54329 0.46745 0.54236 0.47161 0.54143 C 0.48216 0.53935 0.49453 0.53704 0.5056 0.53518 C 0.51003 0.53356 0.51445 0.53148 0.51888 0.53032 C 0.52669 0.52847 0.53437 0.52731 0.54219 0.52569 C 0.54635 0.52477 0.55052 0.52361 0.55469 0.52245 C 0.55703 0.52199 0.55937 0.52153 0.56185 0.52083 C 0.57122 0.52199 0.58971 0.52268 0.60104 0.52731 C 0.61042 0.53102 0.61953 0.53565 0.62878 0.54004 C 0.63112 0.54097 0.63359 0.54074 0.63594 0.54143 C 0.64453 0.54444 0.65299 0.54977 0.66172 0.55116 L 0.67253 0.55254 L 0.68594 0.55416 L 0.71445 0.55903 C 0.71823 0.55879 0.73867 0.5581 0.74661 0.55579 C 0.75078 0.55463 0.75495 0.55278 0.75911 0.55116 C 0.77617 0.54352 0.7612 0.54838 0.77344 0.54467 C 0.78333 0.53403 0.77161 0.5456 0.78411 0.5368 C 0.78789 0.53403 0.78581 0.53217 0.79036 0.53032 C 0.7944 0.5287 0.7987 0.52847 0.80286 0.52731 C 0.80586 0.52639 0.80885 0.52523 0.81172 0.52407 C 0.81263 0.52361 0.81354 0.52268 0.81445 0.52245 C 0.82448 0.5206 0.84479 0.51782 0.84479 0.51782 C 0.85078 0.51829 0.85677 0.51805 0.86263 0.51921 C 0.86393 0.51967 0.86497 0.52153 0.86628 0.52245 C 0.87122 0.52616 0.87161 0.52569 0.87695 0.52731 C 0.88464 0.53634 0.87487 0.52546 0.88229 0.53194 C 0.8832 0.53287 0.88398 0.53449 0.88503 0.53518 C 0.89284 0.54051 0.88607 0.53217 0.89479 0.54004 C 0.89596 0.54097 0.89714 0.54259 0.89831 0.54305 C 0.90039 0.54421 0.9026 0.54398 0.90456 0.54467 C 0.90586 0.54514 0.90703 0.54583 0.9082 0.54629 C 0.91107 0.54977 0.91081 0.54745 0.91081 0.55116 L 0.91081 0.55116 " pathEditMode="relative" ptsTypes="AAAAAAAAAAAAAAAAAAAAAAAAAAAAAAAAAAAAAAAAAAAAAAAAAAAAAAAAAAAAAAAA">
                                      <p:cBhvr>
                                        <p:cTn id="2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0E9-49DA-0CA4-E9B7-0BF44EFB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A75C9-685B-F8A0-DF51-D33D17F22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64773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274</TotalTime>
  <Words>338</Words>
  <Application>Microsoft Office PowerPoint</Application>
  <PresentationFormat>Widescreen</PresentationFormat>
  <Paragraphs>48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Calibri</vt:lpstr>
      <vt:lpstr>Arial</vt:lpstr>
      <vt:lpstr>Century Schoolbook</vt:lpstr>
      <vt:lpstr>Roboto</vt:lpstr>
      <vt:lpstr>Century Gothic</vt:lpstr>
      <vt:lpstr>Bodoni</vt:lpstr>
      <vt:lpstr>Candara</vt:lpstr>
      <vt:lpstr>Twentieth Century</vt:lpstr>
      <vt:lpstr>Vapor Trail</vt:lpstr>
      <vt:lpstr>TEAM NAME :  HACKETTES  TEAM DETAILS: YUVIKA MISHRA                                SADIYA FAIZAN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 - STACK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Sadiya Faizan</dc:creator>
  <cp:lastModifiedBy>yuvika mishra</cp:lastModifiedBy>
  <cp:revision>9</cp:revision>
  <dcterms:modified xsi:type="dcterms:W3CDTF">2024-07-15T13:08:16Z</dcterms:modified>
</cp:coreProperties>
</file>